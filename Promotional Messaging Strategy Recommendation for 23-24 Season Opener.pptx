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58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6E0B-0729-1139-7882-51AF0DD94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783E8-BDDD-5743-B014-9848CFFBD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73DAF-26FC-7E88-AAB0-16CC984A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B0840-D620-15E6-5F6E-795F980D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6E724-F1FF-E83E-84DD-881003FE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6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87DA-3634-EBDE-8282-19C69ABB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832D2-BF6F-A7AE-B60C-07BA41D91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71372-8ADE-7306-37D6-BF654875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F9ABC-0D66-B501-A3BA-E4192035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C3E99-2635-CD31-64F3-7CEE97FC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9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E9EB2-8412-DB9B-F5C7-93F7730A7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9F0B7-C118-FF64-4055-BB8330B74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3D511-B6F9-70EB-47DF-94566AD3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00D74-6059-78FD-DC65-A4BB87BC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BFD32-E7D0-6B55-7BB0-7585EAF0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7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D268-D33F-2ADA-A8A5-C9E1477E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C435-8E4D-B2F3-17BA-BF7E2A855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EDB43-B95C-30BF-9860-DFBB63FA5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EB45F-58AB-E0EF-3731-9D79D21B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C93A-3D07-FD86-38DA-637C735E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A7A34-DB5C-AF29-37E6-54A98E9F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0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A904-2308-E04E-8F73-E8FD6E9C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AE6E8-69E7-ED48-5C28-0B555509F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9829C-BB9C-1163-017D-15DC6FCD1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2B5421-DE5F-5B32-60C0-D042375B9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6CF97-BF75-0B86-AB6D-8CDC6DB03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37360-DD9A-94DC-DA68-9D1FA9F50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D1659-DD35-5834-3187-61E0D934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B8D56-51C3-F7BB-9F23-DF5A24A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0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0184-53BA-7164-5460-6A25B35C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60F4F-7DC8-BEDD-FD61-9FACCACB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8E79E-F539-91AB-48DF-277DAF56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E105F-9DE6-C78F-85AF-7891F739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44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FECA6-3A72-64D1-E7D1-2BC2F7BA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F8032B-59E0-BDDD-AE99-54421F09C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A508C-0DAA-7428-634C-859A0E3B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1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5611-76DA-117E-EFD0-803142F0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3077D-FA2A-CE86-BEEA-EA83AE579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B0C68-5C7F-0C64-CF9D-7A3867A65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3EA59-AD6D-2E0D-080A-02B233CA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CBD2F-74CC-83C3-20D0-41E7E47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45473-6630-34EC-912E-0215E91A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8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1C86-D3F8-2758-82A6-473812E0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11E3A6-B85E-2EFB-B612-E1CA1E83E8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2C968-A67A-C6A9-F7AE-E6B380A04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418F9-170B-F59A-7F52-4D52CD4F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FD908-690C-4569-75D4-AF607A42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87E51-3160-F151-D8D5-0E4C9C99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66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6D895-D94B-2653-7FFE-56AAC314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B9649-6E03-F2A0-8B97-69F09C5B3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8988B-8366-2396-B12D-DA701883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DD0E1-8201-3D4B-F82A-B156D596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098E2-087C-7E90-BB76-9A7173CD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0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DA554-EE84-AC61-870A-EDE62CE15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8734D-F764-B093-EA96-615AC3E21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35A75-7A00-F07A-9FE7-E9917EAE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DC5A1-517E-2CD1-9B9E-09360172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90DCD-F52E-32EE-7303-DFC10D92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8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B57533-F6ED-966B-62B9-D755D9F9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93A93-8606-15C8-85AF-5F5C691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55190-3413-B707-9685-1779FE0FA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88557-8CAE-4B84-9E6A-CA64A4960C6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E4B40-6046-6931-FEEE-A9A29A469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D2CBA-0E9E-C894-E3F5-455B3812F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A16CD-C969-4C24-9A85-415BB610C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4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ED87B2B-202F-EF15-F0FD-5239B0A8C673}"/>
              </a:ext>
            </a:extLst>
          </p:cNvPr>
          <p:cNvCxnSpPr>
            <a:cxnSpLocks/>
          </p:cNvCxnSpPr>
          <p:nvPr/>
        </p:nvCxnSpPr>
        <p:spPr>
          <a:xfrm flipH="1">
            <a:off x="1818463" y="1249950"/>
            <a:ext cx="8327023" cy="436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C441826-F838-CB39-1932-C6F662BCBE91}"/>
              </a:ext>
            </a:extLst>
          </p:cNvPr>
          <p:cNvCxnSpPr>
            <a:cxnSpLocks/>
          </p:cNvCxnSpPr>
          <p:nvPr/>
        </p:nvCxnSpPr>
        <p:spPr>
          <a:xfrm flipH="1">
            <a:off x="2908300" y="782388"/>
            <a:ext cx="61912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A black circle with red and black text">
            <a:extLst>
              <a:ext uri="{FF2B5EF4-FFF2-40B4-BE49-F238E27FC236}">
                <a16:creationId xmlns:a16="http://schemas.microsoft.com/office/drawing/2014/main" id="{D5B699ED-5CE4-5261-5E1F-334B9113D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300" y="4509541"/>
            <a:ext cx="1801543" cy="180154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9218CED-7F7A-3AE4-CAA2-D870A4DBE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379" y="1694957"/>
            <a:ext cx="4277922" cy="2064666"/>
          </a:xfrm>
        </p:spPr>
        <p:txBody>
          <a:bodyPr>
            <a:normAutofit/>
          </a:bodyPr>
          <a:lstStyle/>
          <a:p>
            <a:pPr algn="l"/>
            <a:r>
              <a:rPr lang="en-US" sz="1200" dirty="0"/>
              <a:t>The marketing team has a quota of 500 messages to produce fan engagement for the upcoming season opener. I analyzed the data provided from the 2022-23 season and was able to extract several key insights. But before we dive into the messaging allocation, we must consider two questions:</a:t>
            </a:r>
          </a:p>
          <a:p>
            <a:pPr algn="l"/>
            <a:r>
              <a:rPr lang="en-US" sz="1400" dirty="0"/>
              <a:t>1. What customer segment led to the highest spending amount?</a:t>
            </a:r>
          </a:p>
          <a:p>
            <a:pPr algn="l"/>
            <a:r>
              <a:rPr lang="en-US" sz="1400" dirty="0"/>
              <a:t>2. Where is there room to grow and expand engagement in lower customer segments?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F5C5C7-1EF8-7D9C-AF25-8A12A87FA084}"/>
              </a:ext>
            </a:extLst>
          </p:cNvPr>
          <p:cNvSpPr txBox="1">
            <a:spLocks/>
          </p:cNvSpPr>
          <p:nvPr/>
        </p:nvSpPr>
        <p:spPr>
          <a:xfrm>
            <a:off x="7278707" y="1884945"/>
            <a:ext cx="4013915" cy="2064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/>
              <a:t>Ideal customer segment for game attendance and revenue:</a:t>
            </a:r>
          </a:p>
          <a:p>
            <a:pPr algn="l"/>
            <a:r>
              <a:rPr lang="en-US" sz="1200" dirty="0"/>
              <a:t>- Fans going to 10 or more games</a:t>
            </a:r>
          </a:p>
          <a:p>
            <a:pPr algn="l"/>
            <a:r>
              <a:rPr lang="en-US" sz="1200" dirty="0"/>
              <a:t>- Fans with an income of $250,000 or more</a:t>
            </a:r>
          </a:p>
          <a:p>
            <a:pPr algn="l"/>
            <a:r>
              <a:rPr lang="en-US" sz="1200" dirty="0"/>
              <a:t>- Fans in the age range of 45-54</a:t>
            </a:r>
          </a:p>
          <a:p>
            <a:pPr algn="l"/>
            <a:r>
              <a:rPr lang="en-US" sz="1200" dirty="0"/>
              <a:t>- Living in these zip codes: 77461, 77565, 77498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5896DD-1D3A-3C74-4E96-B256AFBD908A}"/>
              </a:ext>
            </a:extLst>
          </p:cNvPr>
          <p:cNvSpPr txBox="1">
            <a:spLocks/>
          </p:cNvSpPr>
          <p:nvPr/>
        </p:nvSpPr>
        <p:spPr>
          <a:xfrm>
            <a:off x="7278707" y="3889419"/>
            <a:ext cx="4225316" cy="2064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/>
              <a:t>Ideal customer segments for expanding smaller markets:</a:t>
            </a:r>
          </a:p>
          <a:p>
            <a:pPr algn="l"/>
            <a:r>
              <a:rPr lang="en-US" sz="1200" dirty="0"/>
              <a:t>- Fans going to 10 or less games</a:t>
            </a:r>
          </a:p>
          <a:p>
            <a:pPr algn="l"/>
            <a:r>
              <a:rPr lang="en-US" sz="1200" dirty="0"/>
              <a:t>- Fans with an income between $150,000 - $249,999 and lower</a:t>
            </a:r>
          </a:p>
          <a:p>
            <a:pPr algn="l"/>
            <a:r>
              <a:rPr lang="en-US" sz="1200" dirty="0"/>
              <a:t>- Fans in the age range of 55-64 and younger than 34</a:t>
            </a:r>
          </a:p>
          <a:p>
            <a:pPr algn="l"/>
            <a:r>
              <a:rPr lang="en-US" sz="1200" dirty="0"/>
              <a:t>- Fans with a High School diploma or equivalent </a:t>
            </a:r>
          </a:p>
          <a:p>
            <a:pPr algn="l"/>
            <a:r>
              <a:rPr lang="en-US" sz="1200" dirty="0"/>
              <a:t>- Females with a family of 3+ children</a:t>
            </a:r>
          </a:p>
          <a:p>
            <a:pPr algn="l"/>
            <a:r>
              <a:rPr lang="en-US" sz="1200" dirty="0"/>
              <a:t>- Living in these zip codes: 77069, 77030, 77532, 77036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06F9C14-9DF4-8B0F-5ED4-03E22E79E79E}"/>
              </a:ext>
            </a:extLst>
          </p:cNvPr>
          <p:cNvSpPr/>
          <p:nvPr/>
        </p:nvSpPr>
        <p:spPr>
          <a:xfrm rot="20588850">
            <a:off x="5065682" y="2377586"/>
            <a:ext cx="1781210" cy="231674"/>
          </a:xfrm>
          <a:prstGeom prst="rightArrow">
            <a:avLst>
              <a:gd name="adj1" fmla="val 50000"/>
              <a:gd name="adj2" fmla="val 9752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5DE3447E-9F32-FD1A-BFC1-8DE1AF61911C}"/>
              </a:ext>
            </a:extLst>
          </p:cNvPr>
          <p:cNvSpPr/>
          <p:nvPr/>
        </p:nvSpPr>
        <p:spPr>
          <a:xfrm>
            <a:off x="6920941" y="1747478"/>
            <a:ext cx="548640" cy="1681522"/>
          </a:xfrm>
          <a:prstGeom prst="leftBracke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ECF0E586-A8B9-4D51-251C-C72DC329D070}"/>
              </a:ext>
            </a:extLst>
          </p:cNvPr>
          <p:cNvSpPr/>
          <p:nvPr/>
        </p:nvSpPr>
        <p:spPr>
          <a:xfrm>
            <a:off x="6928540" y="3812145"/>
            <a:ext cx="548640" cy="2253804"/>
          </a:xfrm>
          <a:prstGeom prst="leftBracket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04FD048-D40E-3B9A-1533-BD5843E4C362}"/>
              </a:ext>
            </a:extLst>
          </p:cNvPr>
          <p:cNvSpPr/>
          <p:nvPr/>
        </p:nvSpPr>
        <p:spPr>
          <a:xfrm rot="917198">
            <a:off x="4196548" y="3696597"/>
            <a:ext cx="2673489" cy="216757"/>
          </a:xfrm>
          <a:prstGeom prst="rightArrow">
            <a:avLst>
              <a:gd name="adj1" fmla="val 50000"/>
              <a:gd name="adj2" fmla="val 9752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052D97A-E5A2-C95B-EB2D-BB70DD4156ED}"/>
              </a:ext>
            </a:extLst>
          </p:cNvPr>
          <p:cNvSpPr txBox="1">
            <a:spLocks/>
          </p:cNvSpPr>
          <p:nvPr/>
        </p:nvSpPr>
        <p:spPr>
          <a:xfrm>
            <a:off x="1163386" y="3738249"/>
            <a:ext cx="4026797" cy="531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b="1" u="sng" dirty="0"/>
              <a:t>Allocation Strategy for the 500-Messaging Quota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B0BACAC-C0BC-079E-A6B1-A26C7AF63B80}"/>
              </a:ext>
            </a:extLst>
          </p:cNvPr>
          <p:cNvSpPr txBox="1">
            <a:spLocks/>
          </p:cNvSpPr>
          <p:nvPr/>
        </p:nvSpPr>
        <p:spPr>
          <a:xfrm>
            <a:off x="789445" y="4056149"/>
            <a:ext cx="2422388" cy="27154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Big Spenders and Loyal Fans</a:t>
            </a:r>
          </a:p>
          <a:p>
            <a:pPr algn="l"/>
            <a:r>
              <a:rPr lang="en-US" sz="1200" dirty="0"/>
              <a:t>- Allocate approximately </a:t>
            </a:r>
            <a:r>
              <a:rPr lang="en-US" sz="1200" dirty="0">
                <a:highlight>
                  <a:srgbClr val="FFFF00"/>
                </a:highlight>
              </a:rPr>
              <a:t>70%</a:t>
            </a:r>
            <a:r>
              <a:rPr lang="en-US" sz="1200" dirty="0"/>
              <a:t> of messages (350) to fans who attended 10 or more games in the 2022-23 season.</a:t>
            </a:r>
          </a:p>
          <a:p>
            <a:pPr algn="l"/>
            <a:r>
              <a:rPr lang="en-US" sz="1200" dirty="0"/>
              <a:t>- Allocate 60% (300) to fans with incomes of $100,000 - $150,000 and $250,000+</a:t>
            </a:r>
          </a:p>
          <a:p>
            <a:pPr algn="l"/>
            <a:r>
              <a:rPr lang="en-US" sz="1200" dirty="0"/>
              <a:t>- We’ll also allocate 100 of the 350 “10+ game” messages to an age group that showed the most attendance. See next slide for more insights</a:t>
            </a:r>
          </a:p>
          <a:p>
            <a:pPr algn="l"/>
            <a:r>
              <a:rPr lang="en-US" sz="1200" dirty="0"/>
              <a:t>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6186409-EF73-E319-D720-85C484EA50EF}"/>
              </a:ext>
            </a:extLst>
          </p:cNvPr>
          <p:cNvSpPr txBox="1">
            <a:spLocks/>
          </p:cNvSpPr>
          <p:nvPr/>
        </p:nvSpPr>
        <p:spPr>
          <a:xfrm>
            <a:off x="3323172" y="4056149"/>
            <a:ext cx="2176202" cy="27154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Smaller Market Expansion</a:t>
            </a:r>
          </a:p>
          <a:p>
            <a:pPr algn="l"/>
            <a:r>
              <a:rPr lang="en-US" sz="1200" dirty="0"/>
              <a:t>- Allocate the remaining </a:t>
            </a:r>
            <a:r>
              <a:rPr lang="en-US" sz="1200" dirty="0">
                <a:highlight>
                  <a:srgbClr val="FFFF00"/>
                </a:highlight>
              </a:rPr>
              <a:t>30%</a:t>
            </a:r>
            <a:r>
              <a:rPr lang="en-US" sz="1200" dirty="0"/>
              <a:t> of messages (150) to fans who attended 10 or less games.</a:t>
            </a:r>
          </a:p>
          <a:p>
            <a:pPr algn="l"/>
            <a:r>
              <a:rPr lang="en-US" sz="1200" dirty="0"/>
              <a:t>- Diversify these 150 messages by targeting fans across various income ranges, specifically fans with incomes under $100,000. </a:t>
            </a:r>
          </a:p>
          <a:p>
            <a:pPr algn="l"/>
            <a:r>
              <a:rPr lang="en-US" sz="1200" dirty="0"/>
              <a:t>- Expand the age group to include a wider range of fans, specifically those 35 or younger.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90ECB2-5AB4-AF07-9D1F-0A573F47D059}"/>
              </a:ext>
            </a:extLst>
          </p:cNvPr>
          <p:cNvCxnSpPr>
            <a:cxnSpLocks/>
          </p:cNvCxnSpPr>
          <p:nvPr/>
        </p:nvCxnSpPr>
        <p:spPr>
          <a:xfrm>
            <a:off x="3191412" y="4068379"/>
            <a:ext cx="0" cy="260588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859CEC1-0DAE-179B-FC2B-DFC09E8B7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543" y="-1006430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</a:rPr>
              <a:t>Promotional Messaging Strategy Recommendation for 23-24 Season Opener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8796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pie chart with numbers and text&#10;&#10;Description automatically generated">
            <a:extLst>
              <a:ext uri="{FF2B5EF4-FFF2-40B4-BE49-F238E27FC236}">
                <a16:creationId xmlns:a16="http://schemas.microsoft.com/office/drawing/2014/main" id="{993DAEAF-75F2-53E9-2CEE-D4C24DAC88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3053" r="-3601"/>
          <a:stretch/>
        </p:blipFill>
        <p:spPr>
          <a:xfrm>
            <a:off x="4345758" y="388835"/>
            <a:ext cx="4502152" cy="3778529"/>
          </a:xfrm>
          <a:prstGeom prst="rect">
            <a:avLst/>
          </a:prstGeom>
        </p:spPr>
      </p:pic>
      <p:pic>
        <p:nvPicPr>
          <p:cNvPr id="7" name="Picture 6" descr="A colorful pie chart with numbers and text&#10;&#10;Description automatically generated">
            <a:extLst>
              <a:ext uri="{FF2B5EF4-FFF2-40B4-BE49-F238E27FC236}">
                <a16:creationId xmlns:a16="http://schemas.microsoft.com/office/drawing/2014/main" id="{C55A51B2-54E0-6729-4CBC-6DE97B77DD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1"/>
          <a:stretch/>
        </p:blipFill>
        <p:spPr>
          <a:xfrm>
            <a:off x="158619" y="270588"/>
            <a:ext cx="4345757" cy="39054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983EAF-0F3C-639D-427C-429FFFDDFB72}"/>
              </a:ext>
            </a:extLst>
          </p:cNvPr>
          <p:cNvSpPr txBox="1"/>
          <p:nvPr/>
        </p:nvSpPr>
        <p:spPr>
          <a:xfrm>
            <a:off x="325415" y="143629"/>
            <a:ext cx="40121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Messaging Allocation for Fans Attending 10 or more Games (350)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3CFD6-B842-242E-BB22-14F00F35A8B3}"/>
              </a:ext>
            </a:extLst>
          </p:cNvPr>
          <p:cNvSpPr txBox="1"/>
          <p:nvPr/>
        </p:nvSpPr>
        <p:spPr>
          <a:xfrm>
            <a:off x="4771140" y="143628"/>
            <a:ext cx="40121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Messaging Allocation for Fans Attending 10 or less Games (150)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4BBFC-B390-72A4-C18E-9350668CB171}"/>
              </a:ext>
            </a:extLst>
          </p:cNvPr>
          <p:cNvSpPr txBox="1"/>
          <p:nvPr/>
        </p:nvSpPr>
        <p:spPr>
          <a:xfrm>
            <a:off x="158619" y="3779131"/>
            <a:ext cx="41871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Fans who attended 10 or more games made up a massive portion of the overall spending for the 2022-23 season.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These fans had higher retail purchases and spending, making them a lucrative target. Spending ~$1,000 more than the average fan.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Prioritizing fans with higher incomes is crucial, as they have a stronger spending capacity.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Fans with an income of $250,000+ attended the most games last season, therefore spending the most.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Target fans aged 45-54 or 65 or older, as they showed a higher attendance.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18" name="Picture 17" descr="A screenshot of a computer">
            <a:extLst>
              <a:ext uri="{FF2B5EF4-FFF2-40B4-BE49-F238E27FC236}">
                <a16:creationId xmlns:a16="http://schemas.microsoft.com/office/drawing/2014/main" id="{79BC8CED-939A-A6D3-AF60-C4FB38ADD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582" y="397544"/>
            <a:ext cx="2426640" cy="29250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C0C3DF8-7662-E701-3EAE-E0B83B5F0C60}"/>
              </a:ext>
            </a:extLst>
          </p:cNvPr>
          <p:cNvSpPr txBox="1"/>
          <p:nvPr/>
        </p:nvSpPr>
        <p:spPr>
          <a:xfrm>
            <a:off x="9022889" y="3639919"/>
            <a:ext cx="23923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Digital Channel Methods</a:t>
            </a:r>
          </a:p>
          <a:p>
            <a:endParaRPr lang="en-US" sz="1200" b="1" dirty="0"/>
          </a:p>
          <a:p>
            <a:r>
              <a:rPr lang="en-US" sz="1200" dirty="0"/>
              <a:t>For sending messages, we will want to utilize </a:t>
            </a:r>
            <a:r>
              <a:rPr lang="en-US" sz="1200" dirty="0">
                <a:highlight>
                  <a:srgbClr val="FFFF00"/>
                </a:highlight>
              </a:rPr>
              <a:t>Twitter (X)</a:t>
            </a:r>
            <a:r>
              <a:rPr lang="en-US" sz="1200" dirty="0"/>
              <a:t> and </a:t>
            </a:r>
            <a:r>
              <a:rPr lang="en-US" sz="1200" dirty="0">
                <a:highlight>
                  <a:srgbClr val="FFFF00"/>
                </a:highlight>
              </a:rPr>
              <a:t>Facebook</a:t>
            </a:r>
            <a:r>
              <a:rPr lang="en-US" sz="1200" dirty="0"/>
              <a:t> as our primary platforms.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data showed 1542 users followed the Rockets on Twitter and 1541 on Facebook.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Compared to 1498 for Instagram and 1451 for the mobile app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That’s a ratio of </a:t>
            </a:r>
            <a:r>
              <a:rPr lang="en-US" sz="1200" b="1" dirty="0"/>
              <a:t>1.043</a:t>
            </a:r>
            <a:r>
              <a:rPr lang="en-US" sz="1200" dirty="0"/>
              <a:t> higher for Twitter and Facebook than other digital channels.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average fan followed the Rockets on ~2 platforms.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195895-48FE-EF55-B6A2-F4A88F32F66F}"/>
              </a:ext>
            </a:extLst>
          </p:cNvPr>
          <p:cNvSpPr/>
          <p:nvPr/>
        </p:nvSpPr>
        <p:spPr>
          <a:xfrm>
            <a:off x="8988582" y="3585750"/>
            <a:ext cx="2426640" cy="309372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24A339-AD31-617C-D64E-1DAEBD0A77F7}"/>
              </a:ext>
            </a:extLst>
          </p:cNvPr>
          <p:cNvSpPr txBox="1"/>
          <p:nvPr/>
        </p:nvSpPr>
        <p:spPr>
          <a:xfrm>
            <a:off x="9050067" y="55168"/>
            <a:ext cx="401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Allocation Breakdown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572612-D171-68B4-02D2-C3A7DE512F5F}"/>
              </a:ext>
            </a:extLst>
          </p:cNvPr>
          <p:cNvSpPr txBox="1"/>
          <p:nvPr/>
        </p:nvSpPr>
        <p:spPr>
          <a:xfrm>
            <a:off x="4337578" y="3779131"/>
            <a:ext cx="41871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Fans who attended 10 or less games are significant for increasing fan engagement. While their individual spending may be lower, there’s a larger group to target.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It’s important to include fans of all income ranges to help grow the fanbase, including those who make less than $99,999.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Expand the age group target to include a wider range of potential new fans.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Fans 18-34 showed to be the lowest age range for attendance in the 2022-2023 season.  But they have a higher potential to become lifelong fans.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34B549-E222-C444-83D0-5A7BEFA4F744}"/>
              </a:ext>
            </a:extLst>
          </p:cNvPr>
          <p:cNvSpPr/>
          <p:nvPr/>
        </p:nvSpPr>
        <p:spPr>
          <a:xfrm>
            <a:off x="264497" y="6073768"/>
            <a:ext cx="8518805" cy="60570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42D808-3613-1467-C3F2-38D105BE2F92}"/>
              </a:ext>
            </a:extLst>
          </p:cNvPr>
          <p:cNvSpPr txBox="1"/>
          <p:nvPr/>
        </p:nvSpPr>
        <p:spPr>
          <a:xfrm>
            <a:off x="229661" y="6016386"/>
            <a:ext cx="902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Insights</a:t>
            </a:r>
            <a:r>
              <a:rPr lang="en-US" dirty="0"/>
              <a:t>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EDEE83-846F-C526-790D-785CB752C3F9}"/>
              </a:ext>
            </a:extLst>
          </p:cNvPr>
          <p:cNvSpPr txBox="1"/>
          <p:nvPr/>
        </p:nvSpPr>
        <p:spPr>
          <a:xfrm>
            <a:off x="1033301" y="6062221"/>
            <a:ext cx="775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 addition to the above information, we found that gender (Males = 1523 | Females = 1477) and education did not play a massive role regarding fan attendance and spending. The same goes for # of children per fan. Although more children would equate to more spending, we saw more attendance from fans with 0 kids (albeit by small margins).</a:t>
            </a:r>
          </a:p>
        </p:txBody>
      </p:sp>
    </p:spTree>
    <p:extLst>
      <p:ext uri="{BB962C8B-B14F-4D97-AF65-F5344CB8AC3E}">
        <p14:creationId xmlns:p14="http://schemas.microsoft.com/office/powerpoint/2010/main" val="732325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720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Promotional Messaging Strategy Recommendation for 23-24 Season Opener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Promotional Messaging Strategy Recommendation for 23-24 Season Opener</dc:title>
  <dc:creator>Max Fishman</dc:creator>
  <cp:lastModifiedBy>Max Fishman</cp:lastModifiedBy>
  <cp:revision>11</cp:revision>
  <dcterms:created xsi:type="dcterms:W3CDTF">2023-11-01T22:20:51Z</dcterms:created>
  <dcterms:modified xsi:type="dcterms:W3CDTF">2023-11-02T03:49:26Z</dcterms:modified>
</cp:coreProperties>
</file>